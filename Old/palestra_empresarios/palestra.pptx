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1929000"/>
            <a:ext cx="11192000" cy="2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5A524"/>
                </a:solidFill>
                <a:latin typeface="Segoe UI"/>
              </a:rPr>
              <a:t>Gerência de Expectativa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4129000"/>
            <a:ext cx="11192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 i="1">
                <a:solidFill>
                  <a:srgbClr val="8B949E"/>
                </a:solidFill>
                <a:latin typeface="Segoe UI"/>
              </a:rPr>
              <a:t>Um framework para entregar resultados previsíveis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Você já viveu isso?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Já delegou e te apresentaram algo completamente diferente?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Já deu direção solta e o resultado voltou melhor do que imaginava?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Estava fazendo um projeto, mas no meio do processo descobriu algo ainda melhor?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Já entregou pro cliente e ele disse: "não era isso que eu esperava"?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000" y="2229000"/>
            <a:ext cx="60000" cy="220000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0000" y="2229000"/>
            <a:ext cx="10192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0" i="1">
                <a:solidFill>
                  <a:srgbClr val="FFD98A"/>
                </a:solidFill>
                <a:latin typeface="Segoe UI"/>
              </a:rPr>
              <a:t>"Pessoas reagem conforme são mensuradas"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4629000"/>
            <a:ext cx="10192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  <a:latin typeface="Segoe UI"/>
              </a:rPr>
              <a:t>LEI FUNDAMENTAL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Liderança = Engenharia de Expectativa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Time bom + expectativa errada = entrega errada.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Time mediano + expectativa clara = entrega previsível.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Engenharia de Expectativa — 3 pilares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Explicar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Como medir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Quando medir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Explicar o que se quer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600000"/>
            <a:ext cx="10792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8B949E"/>
                </a:solidFill>
                <a:latin typeface="Segoe UI"/>
              </a:rPr>
              <a:t>Deveria ser fácil, né?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2500000"/>
            <a:ext cx="10792000" cy="37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❌ "Quero aumentar o faturamento"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❌ "Quero aumentar a produtividade"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❌ "Usar IA pra ganhar vantagem"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Vago vs. específico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Vago: "Aumentar faturamento" → Específico: "Subir ticket médio do plano Pro de R$ 400 para R$ 550 até Q3, sem perder churn atual"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Vago: "Aumentar produtividade" → Específico: "Reduzir tempo de onboarding de um novo cliente de 3 dias para 2 dias sem causar disrupção em outros processos e qualidade de atendimento"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Vago: "Usar IA pra ganhar vantagem" → Específico: "Usar IA em atendimento com humanos, diminuindo tempo médio para atendimento para 2 min, escalar para humanos em 30% dos atendimentos e manter o feedback de atendimento acima de 4.2 estrelas 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2. Como medir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Como medir o que vai ser feito?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Qual processo vai ser seguido?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Em quais partes do projeto a medição acontece?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Exemplos — métrica de resultado vs. de processo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Resultado: faturamento mensal. Processo: nº de propostas enviadas / ciclo médio de venda / taxa de conversão por etapa.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Resultado: satisfação do cliente. Processo: Número de novos atendimento / análise qualitativa / % de usuários que voltam depois de um problema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Resultado: adoção de IA. Processo: nº de consultas/dia por usuário / % de respostas aceitas sem edição / casos onde IA foi ignorada e por quê. / custo da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3. Quando medir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Só no final? Geralmente é tarde demais.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Quantas vezes você descobriu no meio do processo algo ainda melhor?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Pontos de medição = pontos de correção de rota.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Sem checkpoint, projeto vira fé.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Cabe a você fazer isso?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Sim. E não.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Você define a régua. O time pensa dentro dela.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Crie um framework: a equipe pensa nisso por você.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Framework — por nível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Diretores / Heads / Gerência: como mensurar o departamento semana a semana, mês a mês (ex: financeiro).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Diretores / Gestores com Leads: o que esperar dos times, como mensurar.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Leads com equipes: o que espera de cada pessoa, o que cada um pode mensurar.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800">
                <a:solidFill>
                  <a:srgbClr val="E8EAED"/>
                </a:solidFill>
                <a:latin typeface="Segoe UI"/>
              </a:rPr>
              <a:t>Escolha uma tarefa/mudança que envolve quase todos os departamentos.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800">
                <a:solidFill>
                  <a:srgbClr val="E8EAED"/>
                </a:solidFill>
                <a:latin typeface="Segoe UI"/>
              </a:rPr>
              <a:t>Chefe escreve o que quer.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800">
                <a:solidFill>
                  <a:srgbClr val="E8EAED"/>
                </a:solidFill>
                <a:latin typeface="Segoe UI"/>
              </a:rPr>
              <a:t>Diretores fazem perguntas até acreditarem ter capturado toda a expectativa.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800">
                <a:solidFill>
                  <a:srgbClr val="E8EAED"/>
                </a:solidFill>
                <a:latin typeface="Segoe UI"/>
              </a:rPr>
              <a:t>Chefe sai da sala.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800">
                <a:solidFill>
                  <a:srgbClr val="E8EAED"/>
                </a:solidFill>
                <a:latin typeface="Segoe UI"/>
              </a:rPr>
              <a:t>Diretores escrevem como vão medir — KPIs e pontos de mensuração.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800">
                <a:solidFill>
                  <a:srgbClr val="E8EAED"/>
                </a:solidFill>
                <a:latin typeface="Segoe UI"/>
              </a:rPr>
              <a:t>Repete o ciclo com leads.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800">
                <a:solidFill>
                  <a:srgbClr val="E8EAED"/>
                </a:solidFill>
                <a:latin typeface="Segoe UI"/>
              </a:rPr>
              <a:t>Revisão final com todos juntos.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Saída do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Coleção de perguntas por nível (chefe → diretor → lead → time).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Mapa de onde e como cada time mede.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Linguagem comum de expectativa entre níveis.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Comece simples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Peça uma pergunta pra cada nível da empresa. O que medir, como medir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Use esta pergunta sempre que falarem de algo novo ou importante.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Expectativa como cultura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Use o framework para: promoções, aumento de salário, próximos projetos, benefícios.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KPIs internos (processo, qualidade, adoção) e externos (faturamento, market share).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Usar KPIs como métrica de sucesso de novas iniciativas.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Expectativa com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600">
                <a:solidFill>
                  <a:srgbClr val="E8EAED"/>
                </a:solidFill>
                <a:latin typeface="Segoe UI"/>
              </a:rPr>
              <a:t>Ensinar o cliente a esperar a coisa certa: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600">
                <a:solidFill>
                  <a:srgbClr val="E8EAED"/>
                </a:solidFill>
                <a:latin typeface="Segoe UI"/>
              </a:rPr>
              <a:t>• Falar dos processos internos e externos (governo, sindicato, dependências)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600">
                <a:solidFill>
                  <a:srgbClr val="E8EAED"/>
                </a:solidFill>
                <a:latin typeface="Segoe UI"/>
              </a:rPr>
              <a:t>• Mostrar trade-off antes (escopo × prazo × qualidade)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600">
                <a:solidFill>
                  <a:srgbClr val="E8EAED"/>
                </a:solidFill>
                <a:latin typeface="Segoe UI"/>
              </a:rPr>
              <a:t>• Definir "pronto" por escrito antes de começar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600">
                <a:solidFill>
                  <a:srgbClr val="E8EAED"/>
                </a:solidFill>
                <a:latin typeface="Segoe UI"/>
              </a:rPr>
              <a:t>• Status frequente, mesmo quando ele não pediu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600">
                <a:solidFill>
                  <a:srgbClr val="E8EAED"/>
                </a:solidFill>
                <a:latin typeface="Segoe UI"/>
              </a:rPr>
              <a:t>• Criar métricas de produção ou resultado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600">
                <a:solidFill>
                  <a:srgbClr val="E8EAED"/>
                </a:solidFill>
                <a:latin typeface="Segoe UI"/>
              </a:rPr>
              <a:t>• Priorizar baseado nas métricas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524"/>
                </a:solidFill>
                <a:latin typeface="Segoe UI"/>
              </a:rPr>
              <a:t>›  </a:t>
            </a:r>
            <a:r>
              <a:rPr sz="1600">
                <a:solidFill>
                  <a:srgbClr val="E8EAED"/>
                </a:solidFill>
                <a:latin typeface="Segoe UI"/>
              </a:rPr>
              <a:t>• Mostrar o que NÃO vai entregar — tão importante quanto o que vai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600000"/>
            <a:ext cx="10792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E8EAED"/>
                </a:solidFill>
                <a:latin typeface="Segoe UI"/>
              </a:rPr>
              <a:t>É muito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800000"/>
            <a:ext cx="10792000" cy="445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Pegue UMA tarefa ou tópico. Pergunte: "Vamos começar um novo projeto. Como e quando vamos medir seu resultado?"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Repita semana após semana.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F5A524"/>
                </a:solidFill>
                <a:latin typeface="Segoe UI"/>
              </a:rPr>
              <a:t>›  </a:t>
            </a:r>
            <a:r>
              <a:rPr sz="2200">
                <a:solidFill>
                  <a:srgbClr val="E8EAED"/>
                </a:solidFill>
                <a:latin typeface="Segoe UI"/>
              </a:rPr>
              <a:t>Em 3 meses, vira hábito. Em 6, vira cultura.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0000" y="2229000"/>
            <a:ext cx="60000" cy="2200000"/>
          </a:xfrm>
          <a:prstGeom prst="rect">
            <a:avLst/>
          </a:prstGeom>
          <a:solidFill>
            <a:srgbClr val="F5A5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0000" y="2229000"/>
            <a:ext cx="10192000" cy="2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0" i="1">
                <a:solidFill>
                  <a:srgbClr val="FFD98A"/>
                </a:solidFill>
                <a:latin typeface="Segoe UI"/>
              </a:rPr>
              <a:t>"Pessoas reagem conforme são mensuradas"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1929000"/>
            <a:ext cx="11192000" cy="2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5A524"/>
                </a:solidFill>
                <a:latin typeface="Segoe UI"/>
              </a:rPr>
              <a:t>Obrigado.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4129000"/>
            <a:ext cx="11192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 i="1">
                <a:solidFill>
                  <a:srgbClr val="8B949E"/>
                </a:solidFill>
                <a:latin typeface="Segoe UI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92000" y="6408000"/>
            <a:ext cx="1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Segoe U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